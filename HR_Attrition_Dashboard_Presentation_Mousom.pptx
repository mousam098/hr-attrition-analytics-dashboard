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HR ATTRITION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DASHBOARD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258775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7DCFF"/>
                </a:solidFill>
              </a:rPr>
              <a:t>Power BI analytics project for employee retention insights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13232" y="30906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0D7"/>
                </a:solidFill>
              </a:rPr>
              <a:t>Dataset • dashboard design • business findings • retention strategy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13232" y="57150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Prepared by: Mousom Koley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52360" y="14173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Project objective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452360" y="196596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2ECFF"/>
                </a:solidFill>
              </a:rPr>
              <a:t>Analyze employee attrition patterns and convert raw HR records into a management-ready decision dashboard.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52360" y="4251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C8FF"/>
                </a:solidFill>
              </a:rPr>
              <a:t>Main output: 5-page interactive Power BI report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2B"/>
                </a:solidFill>
              </a:rPr>
              <a:t>Project Context &amp; Business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5A66"/>
                </a:solidFill>
              </a:rPr>
              <a:t>Why this HR analytics project is useful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222B"/>
                </a:solidFill>
              </a:rPr>
              <a:t>Employee attrition reduces productivity, increases hiring cost, and creates knowledge loss. HR teams need a fast way to identify which employee groups are leaving and why.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13258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222B"/>
                </a:solidFill>
              </a:rPr>
              <a:t>The Power BI report converts raw HR records into interactive visuals that show attrition by role, department, age, overtime, satisfaction, work-life balance, and income.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3840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23A79"/>
                </a:solidFill>
              </a:rPr>
              <a:t>237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4224528"/>
            <a:ext cx="1051560" cy="0"/>
          </a:xfrm>
          <a:prstGeom prst="line">
            <a:avLst/>
          </a:prstGeom>
          <a:noFill/>
          <a:ln w="22860">
            <a:solidFill>
              <a:srgbClr val="B23A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3434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5D5A66"/>
                </a:solidFill>
              </a:rPr>
              <a:t>employees left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2971800" y="3840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42C1"/>
                </a:solidFill>
              </a:rPr>
              <a:t>16.12%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108960" y="4224528"/>
            <a:ext cx="1051560" cy="0"/>
          </a:xfrm>
          <a:prstGeom prst="line">
            <a:avLst/>
          </a:prstGeom>
          <a:noFill/>
          <a:ln w="22860">
            <a:solidFill>
              <a:srgbClr val="6F42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43434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5D5A66"/>
                </a:solidFill>
              </a:rPr>
              <a:t>attrition rate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5074920" y="3840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8D7C"/>
                </a:solidFill>
              </a:rPr>
              <a:t>1,470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212080" y="4224528"/>
            <a:ext cx="1051560" cy="0"/>
          </a:xfrm>
          <a:prstGeom prst="line">
            <a:avLst/>
          </a:prstGeom>
          <a:noFill/>
          <a:ln w="22860">
            <a:solidFill>
              <a:srgbClr val="0B8D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43434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5D5A66"/>
                </a:solidFill>
              </a:rPr>
              <a:t>employee records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7178040" y="3840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43A3"/>
                </a:solidFill>
              </a:rPr>
              <a:t>35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0" y="4224528"/>
            <a:ext cx="1051560" cy="0"/>
          </a:xfrm>
          <a:prstGeom prst="line">
            <a:avLst/>
          </a:prstGeom>
          <a:noFill/>
          <a:ln w="22860">
            <a:solidFill>
              <a:srgbClr val="2643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43434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5D5A66"/>
                </a:solidFill>
              </a:rPr>
              <a:t>CSV attributes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9281160" y="3840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42C1"/>
                </a:solidFill>
              </a:rPr>
              <a:t>5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418320" y="4224528"/>
            <a:ext cx="1051560" cy="0"/>
          </a:xfrm>
          <a:prstGeom prst="line">
            <a:avLst/>
          </a:prstGeom>
          <a:noFill/>
          <a:ln w="22860">
            <a:solidFill>
              <a:srgbClr val="6F42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43434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5D5A66"/>
                </a:solidFill>
              </a:rPr>
              <a:t>dashboard pages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914400" y="5349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22B"/>
                </a:solidFill>
              </a:rPr>
              <a:t>Target users: HR managers, workforce planning teams, business leaders, and Power BI portfolio reviewers.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1430">
            <a:solidFill>
              <a:srgbClr val="DDD3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288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5A66"/>
                </a:solidFill>
              </a:rPr>
              <a:t>HR Attrition Dashboard | Power BI Portfolio Project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113842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42C1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2B"/>
                </a:solidFill>
              </a:rPr>
              <a:t>Dataset Source, Size &amp; Ethics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5A66"/>
                </a:solidFill>
              </a:rPr>
              <a:t>Public HR attrition dataset used for learning and portfolio presentation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353312"/>
            <a:ext cx="91440" cy="914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9844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Dataset source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1005840" y="154533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Public HR Employee Attrition CSV dataset, commonly used for analytics practice and portfolio work.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822960" y="2295144"/>
            <a:ext cx="91440" cy="91440"/>
          </a:xfrm>
          <a:prstGeom prst="ellipse">
            <a:avLst/>
          </a:prstGeom>
          <a:solidFill>
            <a:srgbClr val="0B8D7C"/>
          </a:solidFill>
          <a:ln w="12700">
            <a:solidFill>
              <a:srgbClr val="0B8D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40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Privacy position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1005840" y="248716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No direct personal identifiers such as employee names, phone numbers, addresses, or email IDs are used.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822960" y="3236976"/>
            <a:ext cx="91440" cy="91440"/>
          </a:xfrm>
          <a:prstGeom prst="ellipse">
            <a:avLst/>
          </a:prstGeom>
          <a:solidFill>
            <a:srgbClr val="B23A79"/>
          </a:solidFill>
          <a:ln w="12700">
            <a:solidFill>
              <a:srgbClr val="B23A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1821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Project perspective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005840" y="342900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This is a realistic HR analytics case study, not confidential data from a private company.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8D7C"/>
                </a:solidFill>
              </a:rPr>
              <a:t>1,470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37960" y="1801368"/>
            <a:ext cx="1051560" cy="0"/>
          </a:xfrm>
          <a:prstGeom prst="line">
            <a:avLst/>
          </a:prstGeom>
          <a:noFill/>
          <a:ln w="22860">
            <a:solidFill>
              <a:srgbClr val="0B8D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9202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5D5A66"/>
                </a:solidFill>
              </a:rPr>
              <a:t>rows / employees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8641080" y="14173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42C1"/>
                </a:solidFill>
              </a:rPr>
              <a:t>35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778240" y="1801368"/>
            <a:ext cx="1051560" cy="0"/>
          </a:xfrm>
          <a:prstGeom prst="line">
            <a:avLst/>
          </a:prstGeom>
          <a:noFill/>
          <a:ln w="22860">
            <a:solidFill>
              <a:srgbClr val="6F42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19202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5D5A66"/>
                </a:solidFill>
              </a:rPr>
              <a:t>columns in CSV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6400800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23A79"/>
                </a:solidFill>
              </a:rPr>
              <a:t>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37960" y="3127248"/>
            <a:ext cx="1051560" cy="0"/>
          </a:xfrm>
          <a:prstGeom prst="line">
            <a:avLst/>
          </a:prstGeom>
          <a:noFill/>
          <a:ln w="22860">
            <a:solidFill>
              <a:srgbClr val="B23A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32461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5D5A66"/>
                </a:solidFill>
              </a:rPr>
              <a:t>target variable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8641080" y="27432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43A3"/>
                </a:solidFill>
              </a:rPr>
              <a:t>0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778240" y="3127248"/>
            <a:ext cx="1051560" cy="0"/>
          </a:xfrm>
          <a:prstGeom prst="line">
            <a:avLst/>
          </a:prstGeom>
          <a:noFill/>
          <a:ln w="22860">
            <a:solidFill>
              <a:srgbClr val="2643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32461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5D5A66"/>
                </a:solidFill>
              </a:rPr>
              <a:t>direct PII fields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6400800" y="4251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22B"/>
                </a:solidFill>
              </a:rPr>
              <a:t>Attribute groups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468172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D5A66"/>
                </a:solidFill>
              </a:rPr>
              <a:t>Demographics: Age, Gender, Marital Status, Education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5D5A66"/>
                </a:solidFill>
              </a:rPr>
              <a:t>Work metrics: Department, Job Role, Income, Overtime, Travel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5D5A66"/>
                </a:solidFill>
              </a:rPr>
              <a:t>Wellness: Job Satisfaction, Environment Satisfaction, Work-Life Balance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5D5A66"/>
                </a:solidFill>
              </a:rPr>
              <a:t>Outcome: Attrition = Yes / No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1430">
            <a:solidFill>
              <a:srgbClr val="DDD3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288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5A66"/>
                </a:solidFill>
              </a:rPr>
              <a:t>HR Attrition Dashboard | Power BI Portfolio Project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113842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42C1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2B"/>
                </a:solidFill>
              </a:rPr>
              <a:t>Project Creation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5A66"/>
                </a:solidFill>
              </a:rPr>
              <a:t>From CSV file to interactive Power BI dashboard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42C1"/>
                </a:solidFill>
              </a:rPr>
              <a:t>CSV Dataset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2677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5A66"/>
                </a:solidFill>
              </a:rPr>
              <a:t>Raw employee records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468880" y="2075688"/>
            <a:ext cx="329184" cy="329184"/>
          </a:xfrm>
          <a:prstGeom prst="chevron">
            <a:avLst/>
          </a:prstGeom>
          <a:solidFill>
            <a:srgbClr val="6F42C1">
              <a:alpha val="85000"/>
            </a:srgbClr>
          </a:solidFill>
          <a:ln w="12700">
            <a:solidFill>
              <a:srgbClr val="6F42C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1828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8D7C"/>
                </a:solidFill>
              </a:rPr>
              <a:t>Power Query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71800" y="22677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5A66"/>
                </a:solidFill>
              </a:rPr>
              <a:t>Cleaning and data type checks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2075688"/>
            <a:ext cx="329184" cy="329184"/>
          </a:xfrm>
          <a:prstGeom prst="chevron">
            <a:avLst/>
          </a:prstGeom>
          <a:solidFill>
            <a:srgbClr val="6F42C1">
              <a:alpha val="85000"/>
            </a:srgbClr>
          </a:solidFill>
          <a:ln w="12700">
            <a:solidFill>
              <a:srgbClr val="6F42C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1828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42C1"/>
                </a:solidFill>
              </a:rPr>
              <a:t>Data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57800" y="22677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5A66"/>
                </a:solidFill>
              </a:rPr>
              <a:t>KPIs and measures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040880" y="2075688"/>
            <a:ext cx="329184" cy="329184"/>
          </a:xfrm>
          <a:prstGeom prst="chevron">
            <a:avLst/>
          </a:prstGeom>
          <a:solidFill>
            <a:srgbClr val="6F42C1">
              <a:alpha val="85000"/>
            </a:srgbClr>
          </a:solidFill>
          <a:ln w="12700">
            <a:solidFill>
              <a:srgbClr val="6F42C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1828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8D7C"/>
                </a:solidFill>
              </a:rPr>
              <a:t>Visual Design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43800" y="22677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5A66"/>
                </a:solidFill>
              </a:rPr>
              <a:t>Cards, charts, navigation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326880" y="2075688"/>
            <a:ext cx="329184" cy="329184"/>
          </a:xfrm>
          <a:prstGeom prst="chevron">
            <a:avLst/>
          </a:prstGeom>
          <a:solidFill>
            <a:srgbClr val="6F42C1">
              <a:alpha val="85000"/>
            </a:srgbClr>
          </a:solidFill>
          <a:ln w="12700">
            <a:solidFill>
              <a:srgbClr val="6F42C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29800" y="1828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42C1"/>
                </a:solidFill>
              </a:rPr>
              <a:t>Insights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29800" y="22677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5A66"/>
                </a:solidFill>
              </a:rPr>
              <a:t>Retention actions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" y="4032504"/>
            <a:ext cx="91440" cy="914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9776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Data preparation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097280" y="422452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Imported employee records and checked categorical/numeric fields.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914400" y="4946904"/>
            <a:ext cx="91440" cy="914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8920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Measure creation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097280" y="513892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Created KPIs such as employee count, attrition count, attrition rate, average income and hourly rate.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309360" y="4032504"/>
            <a:ext cx="91440" cy="91440"/>
          </a:xfrm>
          <a:prstGeom prst="ellipse">
            <a:avLst/>
          </a:prstGeom>
          <a:solidFill>
            <a:srgbClr val="0B8D7C"/>
          </a:solidFill>
          <a:ln w="12700">
            <a:solidFill>
              <a:srgbClr val="0B8D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9776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Dashboard redesign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6492240" y="422452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Optimized the visual theme, removed unnecessary images, and organized pages by business question.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6309360" y="4946904"/>
            <a:ext cx="91440" cy="91440"/>
          </a:xfrm>
          <a:prstGeom prst="ellipse">
            <a:avLst/>
          </a:prstGeom>
          <a:solidFill>
            <a:srgbClr val="0B8D7C"/>
          </a:solidFill>
          <a:ln w="12700">
            <a:solidFill>
              <a:srgbClr val="0B8D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8920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Insight storytelling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6492240" y="513892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Separated overview, demographics, turnover and wellness analysis for clearer HR decision-making.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1430">
            <a:solidFill>
              <a:srgbClr val="DDD3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5288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5A66"/>
                </a:solidFill>
              </a:rPr>
              <a:t>HR Attrition Dashboard | Power BI Portfolio Project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113842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42C1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2B"/>
                </a:solidFill>
              </a:rPr>
              <a:t>Dashboard Page 1: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5A66"/>
                </a:solidFill>
              </a:rPr>
              <a:t>Navigation hub and executive context page</a:t>
            </a:r>
            <a:endParaRPr lang="en-US" sz="1050" dirty="0"/>
          </a:p>
        </p:txBody>
      </p:sp>
      <p:pic>
        <p:nvPicPr>
          <p:cNvPr id="4" name="Image 0" descr="/mnt/data/Screenshot_125_crop.png">    </p:cNvPr>
          <p:cNvPicPr>
            <a:picLocks noChangeAspect="1"/>
          </p:cNvPicPr>
          <p:nvPr/>
        </p:nvPicPr>
        <p:blipFill>
          <a:blip r:embed="rId1"/>
          <a:srcRect l="3889" r="3889" t="0" b="0"/>
          <a:stretch/>
        </p:blipFill>
        <p:spPr>
          <a:xfrm>
            <a:off x="530352" y="1261872"/>
            <a:ext cx="736092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6448" y="1261872"/>
            <a:ext cx="0" cy="4800600"/>
          </a:xfrm>
          <a:prstGeom prst="line">
            <a:avLst/>
          </a:prstGeom>
          <a:noFill/>
          <a:ln w="12700">
            <a:solidFill>
              <a:srgbClr val="DDD3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1298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22B"/>
                </a:solidFill>
              </a:rPr>
              <a:t>What this page explains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85632" y="1837944"/>
            <a:ext cx="91440" cy="914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68512" y="17830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Purpose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8668512" y="202996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Introduces the full HR Attrition Dashboard and guides users to detailed analysis pages.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85632" y="2843784"/>
            <a:ext cx="91440" cy="91440"/>
          </a:xfrm>
          <a:prstGeom prst="ellipse">
            <a:avLst/>
          </a:prstGeom>
          <a:solidFill>
            <a:srgbClr val="0B8D7C"/>
          </a:solidFill>
          <a:ln w="12700">
            <a:solidFill>
              <a:srgbClr val="0B8D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68512" y="27889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Page structure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8668512" y="303580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Four sections summarize demographics, turnover analysis I, turnover analysis II, and employee wellness.</a:t>
            </a:r>
            <a:endParaRPr lang="en-US" sz="1040" dirty="0"/>
          </a:p>
        </p:txBody>
      </p:sp>
      <p:sp>
        <p:nvSpPr>
          <p:cNvPr id="13" name="Shape 10"/>
          <p:cNvSpPr/>
          <p:nvPr/>
        </p:nvSpPr>
        <p:spPr>
          <a:xfrm>
            <a:off x="8485632" y="3849624"/>
            <a:ext cx="91440" cy="914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68512" y="37947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Design change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8668512" y="404164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Large icons and short descriptions make the report flow easy to understand.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8485632" y="4855464"/>
            <a:ext cx="91440" cy="91440"/>
          </a:xfrm>
          <a:prstGeom prst="ellipse">
            <a:avLst/>
          </a:prstGeom>
          <a:solidFill>
            <a:srgbClr val="0B8D7C"/>
          </a:solidFill>
          <a:ln w="12700">
            <a:solidFill>
              <a:srgbClr val="0B8D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68512" y="48006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Business value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8668512" y="504748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Entry point for HR managers before detailed attrition driver analysis.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1430">
            <a:solidFill>
              <a:srgbClr val="DDD3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5A66"/>
                </a:solidFill>
              </a:rPr>
              <a:t>HR Attrition Dashboard | Power BI Portfolio Project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113842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42C1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2B"/>
                </a:solidFill>
              </a:rPr>
              <a:t>Dashboard Page 2: Demographics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5A66"/>
                </a:solidFill>
              </a:rPr>
              <a:t>Age, gender, education, distance, marital status and work-life balance</a:t>
            </a:r>
            <a:endParaRPr lang="en-US" sz="1050" dirty="0"/>
          </a:p>
        </p:txBody>
      </p:sp>
      <p:pic>
        <p:nvPicPr>
          <p:cNvPr id="4" name="Image 0" descr="/mnt/data/Screenshot_126_crop.png">    </p:cNvPr>
          <p:cNvPicPr>
            <a:picLocks noChangeAspect="1"/>
          </p:cNvPicPr>
          <p:nvPr/>
        </p:nvPicPr>
        <p:blipFill>
          <a:blip r:embed="rId1"/>
          <a:srcRect l="3889" r="3889" t="0" b="0"/>
          <a:stretch/>
        </p:blipFill>
        <p:spPr>
          <a:xfrm>
            <a:off x="530352" y="1261872"/>
            <a:ext cx="736092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6448" y="1261872"/>
            <a:ext cx="0" cy="4800600"/>
          </a:xfrm>
          <a:prstGeom prst="line">
            <a:avLst/>
          </a:prstGeom>
          <a:noFill/>
          <a:ln w="12700">
            <a:solidFill>
              <a:srgbClr val="DDD3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1298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22B"/>
                </a:solidFill>
              </a:rPr>
              <a:t>What this page explains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85632" y="1837944"/>
            <a:ext cx="91440" cy="914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68512" y="17830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Total employees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8668512" y="202996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Card shows the dataset size: 1,470 employee records analyzed.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85632" y="2843784"/>
            <a:ext cx="91440" cy="91440"/>
          </a:xfrm>
          <a:prstGeom prst="ellipse">
            <a:avLst/>
          </a:prstGeom>
          <a:solidFill>
            <a:srgbClr val="0B8D7C"/>
          </a:solidFill>
          <a:ln w="12700">
            <a:solidFill>
              <a:srgbClr val="0B8D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68512" y="27889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Gender attrition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8668512" y="303580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Donut charts split attrition share by male and female employees.</a:t>
            </a:r>
            <a:endParaRPr lang="en-US" sz="1040" dirty="0"/>
          </a:p>
        </p:txBody>
      </p:sp>
      <p:sp>
        <p:nvSpPr>
          <p:cNvPr id="13" name="Shape 10"/>
          <p:cNvSpPr/>
          <p:nvPr/>
        </p:nvSpPr>
        <p:spPr>
          <a:xfrm>
            <a:off x="8485632" y="3849624"/>
            <a:ext cx="91440" cy="914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68512" y="37947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Age &amp; education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8668512" y="404164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Bar charts highlight attrition concentration by age group and education field.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8485632" y="4855464"/>
            <a:ext cx="91440" cy="91440"/>
          </a:xfrm>
          <a:prstGeom prst="ellipse">
            <a:avLst/>
          </a:prstGeom>
          <a:solidFill>
            <a:srgbClr val="0B8D7C"/>
          </a:solidFill>
          <a:ln w="12700">
            <a:solidFill>
              <a:srgbClr val="0B8D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68512" y="48006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Personal context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8668512" y="504748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Distance from home, marital status, and work-life balance explain demographic risk.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1430">
            <a:solidFill>
              <a:srgbClr val="DDD3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5A66"/>
                </a:solidFill>
              </a:rPr>
              <a:t>HR Attrition Dashboard | Power BI Portfolio Project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113842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42C1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2B"/>
                </a:solidFill>
              </a:rPr>
              <a:t>Dashboard Page 3: Turnover Analysis 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5A66"/>
                </a:solidFill>
              </a:rPr>
              <a:t>Role, department, business travel and years in current role</a:t>
            </a:r>
            <a:endParaRPr lang="en-US" sz="1050" dirty="0"/>
          </a:p>
        </p:txBody>
      </p:sp>
      <p:pic>
        <p:nvPicPr>
          <p:cNvPr id="4" name="Image 0" descr="/mnt/data/Screenshot_127_crop.png">    </p:cNvPr>
          <p:cNvPicPr>
            <a:picLocks noChangeAspect="1"/>
          </p:cNvPicPr>
          <p:nvPr/>
        </p:nvPicPr>
        <p:blipFill>
          <a:blip r:embed="rId1"/>
          <a:srcRect l="3889" r="3889" t="0" b="0"/>
          <a:stretch/>
        </p:blipFill>
        <p:spPr>
          <a:xfrm>
            <a:off x="530352" y="1261872"/>
            <a:ext cx="736092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6448" y="1261872"/>
            <a:ext cx="0" cy="4800600"/>
          </a:xfrm>
          <a:prstGeom prst="line">
            <a:avLst/>
          </a:prstGeom>
          <a:noFill/>
          <a:ln w="12700">
            <a:solidFill>
              <a:srgbClr val="DDD3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1298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22B"/>
                </a:solidFill>
              </a:rPr>
              <a:t>What this page explains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85632" y="1837944"/>
            <a:ext cx="91440" cy="914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68512" y="17830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Job-role risk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8668512" y="202996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Laboratory Technician, Sales Executive and Research Scientist show the highest attrition counts.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85632" y="2843784"/>
            <a:ext cx="91440" cy="91440"/>
          </a:xfrm>
          <a:prstGeom prst="ellipse">
            <a:avLst/>
          </a:prstGeom>
          <a:solidFill>
            <a:srgbClr val="0B8D7C"/>
          </a:solidFill>
          <a:ln w="12700">
            <a:solidFill>
              <a:srgbClr val="0B8D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68512" y="27889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Department view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8668512" y="303580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Donut chart compares attrition across Research &amp; Development, Sales and Human Resources.</a:t>
            </a:r>
            <a:endParaRPr lang="en-US" sz="1040" dirty="0"/>
          </a:p>
        </p:txBody>
      </p:sp>
      <p:sp>
        <p:nvSpPr>
          <p:cNvPr id="13" name="Shape 10"/>
          <p:cNvSpPr/>
          <p:nvPr/>
        </p:nvSpPr>
        <p:spPr>
          <a:xfrm>
            <a:off x="8485632" y="3849624"/>
            <a:ext cx="91440" cy="914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68512" y="37947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Travel impact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8668512" y="404164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Business travel chart compares Travel_Rarely, Travel_Frequently and Non-Travel employees.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8485632" y="4855464"/>
            <a:ext cx="91440" cy="91440"/>
          </a:xfrm>
          <a:prstGeom prst="ellipse">
            <a:avLst/>
          </a:prstGeom>
          <a:solidFill>
            <a:srgbClr val="0B8D7C"/>
          </a:solidFill>
          <a:ln w="12700">
            <a:solidFill>
              <a:srgbClr val="0B8D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68512" y="48006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Tenure signal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8668512" y="504748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Years in current role chart shows when employees are most likely to leave.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1430">
            <a:solidFill>
              <a:srgbClr val="DDD3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5A66"/>
                </a:solidFill>
              </a:rPr>
              <a:t>HR Attrition Dashboard | Power BI Portfolio Project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113842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42C1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2B"/>
                </a:solidFill>
              </a:rPr>
              <a:t>Dashboard Page 4: Turnover Analysis II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5A66"/>
                </a:solidFill>
              </a:rPr>
              <a:t>Income, performance, overtime, job level and age-based attrition</a:t>
            </a:r>
            <a:endParaRPr lang="en-US" sz="1050" dirty="0"/>
          </a:p>
        </p:txBody>
      </p:sp>
      <p:pic>
        <p:nvPicPr>
          <p:cNvPr id="4" name="Image 0" descr="/mnt/data/Screenshot_128_crop.png">    </p:cNvPr>
          <p:cNvPicPr>
            <a:picLocks noChangeAspect="1"/>
          </p:cNvPicPr>
          <p:nvPr/>
        </p:nvPicPr>
        <p:blipFill>
          <a:blip r:embed="rId1"/>
          <a:srcRect l="3889" r="3889" t="0" b="0"/>
          <a:stretch/>
        </p:blipFill>
        <p:spPr>
          <a:xfrm>
            <a:off x="530352" y="1261872"/>
            <a:ext cx="736092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6448" y="1261872"/>
            <a:ext cx="0" cy="4800600"/>
          </a:xfrm>
          <a:prstGeom prst="line">
            <a:avLst/>
          </a:prstGeom>
          <a:noFill/>
          <a:ln w="12700">
            <a:solidFill>
              <a:srgbClr val="DDD3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1298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22B"/>
                </a:solidFill>
              </a:rPr>
              <a:t>What this page explains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85632" y="1837944"/>
            <a:ext cx="91440" cy="914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68512" y="17830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Income vs attrition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8668512" y="202996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Line chart compares monthly income patterns with attrition count by job role.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85632" y="2843784"/>
            <a:ext cx="91440" cy="91440"/>
          </a:xfrm>
          <a:prstGeom prst="ellipse">
            <a:avLst/>
          </a:prstGeom>
          <a:solidFill>
            <a:srgbClr val="0B8D7C"/>
          </a:solidFill>
          <a:ln w="12700">
            <a:solidFill>
              <a:srgbClr val="0B8D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68512" y="27889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Overtime effect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8668512" y="303580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Overtime chart shows attrition count among overtime and non-overtime employees.</a:t>
            </a:r>
            <a:endParaRPr lang="en-US" sz="1040" dirty="0"/>
          </a:p>
        </p:txBody>
      </p:sp>
      <p:sp>
        <p:nvSpPr>
          <p:cNvPr id="13" name="Shape 10"/>
          <p:cNvSpPr/>
          <p:nvPr/>
        </p:nvSpPr>
        <p:spPr>
          <a:xfrm>
            <a:off x="8485632" y="3849624"/>
            <a:ext cx="91440" cy="914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68512" y="37947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Job level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8668512" y="404164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Funnel chart shows entry-level employees have the largest attrition count.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8485632" y="4855464"/>
            <a:ext cx="91440" cy="91440"/>
          </a:xfrm>
          <a:prstGeom prst="ellipse">
            <a:avLst/>
          </a:prstGeom>
          <a:solidFill>
            <a:srgbClr val="0B8D7C"/>
          </a:solidFill>
          <a:ln w="12700">
            <a:solidFill>
              <a:srgbClr val="0B8D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68512" y="48006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Age trend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8668512" y="504748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18–30 and 31–45 groups are the main attrition-heavy age segments.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1430">
            <a:solidFill>
              <a:srgbClr val="DDD3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5A66"/>
                </a:solidFill>
              </a:rPr>
              <a:t>HR Attrition Dashboard | Power BI Portfolio Project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113842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42C1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2B"/>
                </a:solidFill>
              </a:rPr>
              <a:t>Dashboard Page 5: Employee Wellness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5A66"/>
                </a:solidFill>
              </a:rPr>
              <a:t>Satisfaction, involvement, performance and work-life balance indicators</a:t>
            </a:r>
            <a:endParaRPr lang="en-US" sz="1050" dirty="0"/>
          </a:p>
        </p:txBody>
      </p:sp>
      <p:pic>
        <p:nvPicPr>
          <p:cNvPr id="4" name="Image 0" descr="/mnt/data/Screenshot_124_crop.png">    </p:cNvPr>
          <p:cNvPicPr>
            <a:picLocks noChangeAspect="1"/>
          </p:cNvPicPr>
          <p:nvPr/>
        </p:nvPicPr>
        <p:blipFill>
          <a:blip r:embed="rId1"/>
          <a:srcRect l="3889" r="3889" t="0" b="0"/>
          <a:stretch/>
        </p:blipFill>
        <p:spPr>
          <a:xfrm>
            <a:off x="530352" y="1261872"/>
            <a:ext cx="736092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6448" y="1261872"/>
            <a:ext cx="0" cy="4800600"/>
          </a:xfrm>
          <a:prstGeom prst="line">
            <a:avLst/>
          </a:prstGeom>
          <a:noFill/>
          <a:ln w="12700">
            <a:solidFill>
              <a:srgbClr val="DDD3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1298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22B"/>
                </a:solidFill>
              </a:rPr>
              <a:t>What this page explains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85632" y="1837944"/>
            <a:ext cx="91440" cy="914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68512" y="17830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Average income/rate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8668512" y="202996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Cards show average monthly income and average hourly rate.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85632" y="2843784"/>
            <a:ext cx="91440" cy="91440"/>
          </a:xfrm>
          <a:prstGeom prst="ellipse">
            <a:avLst/>
          </a:prstGeom>
          <a:solidFill>
            <a:srgbClr val="0B8D7C"/>
          </a:solidFill>
          <a:ln w="12700">
            <a:solidFill>
              <a:srgbClr val="0B8D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68512" y="27889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Satisfaction metrics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8668512" y="303580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Charts compare attrition by environment, relationship and job satisfaction.</a:t>
            </a:r>
            <a:endParaRPr lang="en-US" sz="1040" dirty="0"/>
          </a:p>
        </p:txBody>
      </p:sp>
      <p:sp>
        <p:nvSpPr>
          <p:cNvPr id="13" name="Shape 10"/>
          <p:cNvSpPr/>
          <p:nvPr/>
        </p:nvSpPr>
        <p:spPr>
          <a:xfrm>
            <a:off x="8485632" y="3849624"/>
            <a:ext cx="91440" cy="914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68512" y="37947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Performance view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8668512" y="404164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Performance rating chart shows attrition distribution for low vs high groups.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8485632" y="4855464"/>
            <a:ext cx="91440" cy="91440"/>
          </a:xfrm>
          <a:prstGeom prst="ellipse">
            <a:avLst/>
          </a:prstGeom>
          <a:solidFill>
            <a:srgbClr val="0B8D7C"/>
          </a:solidFill>
          <a:ln w="12700">
            <a:solidFill>
              <a:srgbClr val="0B8D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68512" y="48006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Wellness risk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8668512" y="504748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Work-life balance and job involvement show non-salary reasons behind attrition.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1430">
            <a:solidFill>
              <a:srgbClr val="DDD3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65288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5A66"/>
                </a:solidFill>
              </a:rPr>
              <a:t>HR Attrition Dashboard | Power BI Portfolio Project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113842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42C1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2B"/>
                </a:solidFill>
              </a:rPr>
              <a:t>Key Results from the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5A66"/>
                </a:solidFill>
              </a:rPr>
              <a:t>Main insights observed from the optimized Power BI report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42C1"/>
                </a:solidFill>
              </a:rPr>
              <a:t>Attrition is concentrated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0624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5A66"/>
                </a:solidFill>
              </a:rPr>
              <a:t>237 employees left out of 1,470, giving an attrition rate of about 16.12%.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8D7C"/>
                </a:solidFill>
              </a:rPr>
              <a:t>Specific roles need attention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22128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5A66"/>
                </a:solidFill>
              </a:rPr>
              <a:t>Laboratory Technician, Sales Executive and Research Scientist show high attrition counts.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083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42C1"/>
                </a:solidFill>
              </a:rPr>
              <a:t>Younger and mid-career groups are critical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300837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5A66"/>
                </a:solidFill>
              </a:rPr>
              <a:t>18–30 and 31–45 age groups contribute most to attrition.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8039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8D7C"/>
                </a:solidFill>
              </a:rPr>
              <a:t>Overtime is a strong warning signal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380390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5A66"/>
                </a:solidFill>
              </a:rPr>
              <a:t>Employees doing overtime show higher attrition than those not doing overtime.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5994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42C1"/>
                </a:solidFill>
              </a:rPr>
              <a:t>Wellness factors matter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4599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D5A66"/>
                </a:solidFill>
              </a:rPr>
              <a:t>Low satisfaction, weaker work-life balance and lower job involvement are linked with employee exit risk.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1430">
            <a:solidFill>
              <a:srgbClr val="DDD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288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5A66"/>
                </a:solidFill>
              </a:rPr>
              <a:t>HR Attrition Dashboard | Power BI Portfolio Project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113842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42C1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2B"/>
                </a:solidFill>
              </a:rPr>
              <a:t>Business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5A66"/>
                </a:solidFill>
              </a:rPr>
              <a:t>How HR can use the dashboard findings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426464"/>
            <a:ext cx="91440" cy="914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3716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Reduce overtime pressure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1051560" y="161848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Review teams with high overtime and redesign workload allocation.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868680" y="2551176"/>
            <a:ext cx="91440" cy="91440"/>
          </a:xfrm>
          <a:prstGeom prst="ellipse">
            <a:avLst/>
          </a:prstGeom>
          <a:solidFill>
            <a:srgbClr val="0B8D7C"/>
          </a:solidFill>
          <a:ln w="12700">
            <a:solidFill>
              <a:srgbClr val="0B8D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4963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Create role-specific retention plans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1051560" y="274320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Focus first on Laboratory Technicians, Sales Executives and Research Scientists.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868680" y="3675888"/>
            <a:ext cx="91440" cy="914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62102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Improve early-career progression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051560" y="386791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Offer training, mentorship and promotion paths for 18–30 and 31–45 employees.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309360" y="1426464"/>
            <a:ext cx="91440" cy="91440"/>
          </a:xfrm>
          <a:prstGeom prst="ellipse">
            <a:avLst/>
          </a:prstGeom>
          <a:solidFill>
            <a:srgbClr val="0B8D7C"/>
          </a:solidFill>
          <a:ln w="12700">
            <a:solidFill>
              <a:srgbClr val="0B8D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3716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Strengthen wellness programs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6492240" y="161848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Use satisfaction and work-life balance signals for engagement interventions.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6309360" y="2551176"/>
            <a:ext cx="91440" cy="914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4963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6222B"/>
                </a:solidFill>
              </a:rPr>
              <a:t>Monitor monthly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6492240" y="274320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D5A66"/>
                </a:solidFill>
              </a:rPr>
              <a:t>Refresh the dashboard with updated HR data and track whether interventions reduce attrition.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1430">
            <a:solidFill>
              <a:srgbClr val="DDD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288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5A66"/>
                </a:solidFill>
              </a:rPr>
              <a:t>HR Attrition Dashboard | Power BI Portfolio Project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113842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42C1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222B"/>
                </a:solidFill>
              </a:rPr>
              <a:t>Conclusion &amp; Portfolio Value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5A66"/>
                </a:solidFill>
              </a:rPr>
              <a:t>What this project demonstrates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222B"/>
                </a:solidFill>
              </a:rPr>
              <a:t>Final outcome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222B"/>
                </a:solidFill>
              </a:rPr>
              <a:t>An optimized 5-page Power BI dashboard that turns HR attrition data into actionable retention insights. The project demonstrates data importing, transformation, KPI design, chart selection, dashboard navigation and business storytelling.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1325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222B"/>
                </a:solidFill>
              </a:rPr>
              <a:t>GitHub-ready files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5A66"/>
                </a:solidFill>
              </a:rPr>
              <a:t>Recommended repository contents: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D5A66"/>
                </a:solidFill>
              </a:rPr>
              <a:t>• HR_Dashboard.pbix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D5A66"/>
                </a:solidFill>
              </a:rPr>
              <a:t>• HR-Employee-Attrition.csv or .xlsx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D5A66"/>
                </a:solidFill>
              </a:rPr>
              <a:t>• README.md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D5A66"/>
                </a:solidFill>
              </a:rPr>
              <a:t>• Screenshots folder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D5A66"/>
                </a:solidFill>
              </a:rPr>
              <a:t>• Presentation PPTX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D5A66"/>
                </a:solidFill>
              </a:rPr>
              <a:t>• Short project explanation and insights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F42C1"/>
                </a:solidFill>
              </a:rPr>
              <a:t>Project perspective: not just a dashboard design exercise — it is an HR decision-support system for identifying attrition drivers and planning retention strategies.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1430">
            <a:solidFill>
              <a:srgbClr val="DDD3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2881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D5A66"/>
                </a:solidFill>
              </a:rPr>
              <a:t>HR Attrition Dashboard | Power BI Portfolio Project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113842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42C1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Attrition Dashboard</dc:title>
  <dc:subject>HR Attrition Dashboard Power BI Project</dc:subject>
  <dc:creator>Mousom Koley</dc:creator>
  <cp:lastModifiedBy>Mousom Koley</cp:lastModifiedBy>
  <cp:revision>1</cp:revision>
  <dcterms:created xsi:type="dcterms:W3CDTF">2026-07-09T01:52:45Z</dcterms:created>
  <dcterms:modified xsi:type="dcterms:W3CDTF">2026-07-09T01:52:45Z</dcterms:modified>
</cp:coreProperties>
</file>